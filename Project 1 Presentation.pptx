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60" r:id="rId7"/>
    <p:sldId id="261"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9"/>
  </p:normalViewPr>
  <p:slideViewPr>
    <p:cSldViewPr snapToGrid="0" snapToObjects="1">
      <p:cViewPr varScale="1">
        <p:scale>
          <a:sx n="105" d="100"/>
          <a:sy n="105" d="100"/>
        </p:scale>
        <p:origin x="8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10/22/21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10/22/21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10/22/21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3227682"/>
            <a:ext cx="7766936" cy="1646302"/>
          </a:xfrm>
        </p:spPr>
        <p:txBody>
          <a:bodyPr/>
          <a:lstStyle/>
          <a:p>
            <a:pPr algn="l"/>
            <a:r>
              <a:rPr lang="en-US" b="1" dirty="0" smtClean="0"/>
              <a:t>Project 1: Standardized Test Analysis</a:t>
            </a:r>
            <a:br>
              <a:rPr lang="en-US" b="1" dirty="0" smtClean="0"/>
            </a:br>
            <a:endParaRPr lang="en-US" dirty="0"/>
          </a:p>
        </p:txBody>
      </p:sp>
      <p:sp>
        <p:nvSpPr>
          <p:cNvPr id="3" name="Subtitle 2"/>
          <p:cNvSpPr>
            <a:spLocks noGrp="1"/>
          </p:cNvSpPr>
          <p:nvPr>
            <p:ph type="subTitle" idx="1"/>
          </p:nvPr>
        </p:nvSpPr>
        <p:spPr/>
        <p:txBody>
          <a:bodyPr>
            <a:normAutofit/>
          </a:bodyPr>
          <a:lstStyle/>
          <a:p>
            <a:r>
              <a:rPr lang="en-US" altLang="zh-CN" sz="3200" dirty="0" smtClean="0"/>
              <a:t>Present</a:t>
            </a:r>
            <a:r>
              <a:rPr lang="zh-CN" altLang="en-US" sz="3200" dirty="0" smtClean="0"/>
              <a:t> </a:t>
            </a:r>
            <a:r>
              <a:rPr lang="en-US" altLang="zh-CN" sz="3200" dirty="0" smtClean="0"/>
              <a:t>by</a:t>
            </a:r>
            <a:r>
              <a:rPr lang="zh-CN" altLang="en-US" sz="3200" dirty="0" smtClean="0"/>
              <a:t> </a:t>
            </a:r>
            <a:r>
              <a:rPr lang="en-US" altLang="zh-CN" sz="3200" dirty="0" smtClean="0"/>
              <a:t>Casey</a:t>
            </a:r>
            <a:r>
              <a:rPr lang="zh-CN" altLang="en-US" sz="3200" dirty="0" smtClean="0"/>
              <a:t> </a:t>
            </a:r>
            <a:r>
              <a:rPr lang="en-US" altLang="zh-CN" sz="3200" dirty="0" smtClean="0"/>
              <a:t>Liu</a:t>
            </a:r>
            <a:endParaRPr lang="en-US" sz="3200" dirty="0"/>
          </a:p>
        </p:txBody>
      </p:sp>
    </p:spTree>
    <p:extLst>
      <p:ext uri="{BB962C8B-B14F-4D97-AF65-F5344CB8AC3E}">
        <p14:creationId xmlns:p14="http://schemas.microsoft.com/office/powerpoint/2010/main" val="97607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Statement</a:t>
            </a:r>
          </a:p>
        </p:txBody>
      </p:sp>
      <p:sp>
        <p:nvSpPr>
          <p:cNvPr id="3" name="Content Placeholder 2"/>
          <p:cNvSpPr>
            <a:spLocks noGrp="1"/>
          </p:cNvSpPr>
          <p:nvPr>
            <p:ph idx="1"/>
          </p:nvPr>
        </p:nvSpPr>
        <p:spPr>
          <a:xfrm>
            <a:off x="677334" y="1755649"/>
            <a:ext cx="8596668" cy="4285714"/>
          </a:xfrm>
        </p:spPr>
        <p:txBody>
          <a:bodyPr>
            <a:normAutofit/>
          </a:bodyPr>
          <a:lstStyle/>
          <a:p>
            <a:r>
              <a:rPr lang="en-US" dirty="0"/>
              <a:t>I am hired by the a local educational consulting company in California. The company provides the service to students and help them get in their ideal colleges. The company asks me to </a:t>
            </a:r>
            <a:r>
              <a:rPr lang="en-US" dirty="0" smtClean="0"/>
              <a:t>analyze </a:t>
            </a:r>
            <a:r>
              <a:rPr lang="en-US" dirty="0"/>
              <a:t>SAT and ACT performance for various districts in California and provide information to the parents, so the parents would know the districts they can send their children to get higher SAT/ACT scores</a:t>
            </a:r>
            <a:r>
              <a:rPr lang="en-US" dirty="0" smtClean="0"/>
              <a:t>.</a:t>
            </a:r>
          </a:p>
          <a:p>
            <a:endParaRPr lang="en-US" dirty="0"/>
          </a:p>
          <a:p>
            <a:r>
              <a:rPr lang="en-US" dirty="0" smtClean="0"/>
              <a:t>The </a:t>
            </a:r>
            <a:r>
              <a:rPr lang="en-US" dirty="0"/>
              <a:t>customers (parents) in this company pay great attention to the education of their </a:t>
            </a:r>
            <a:r>
              <a:rPr lang="en-US" dirty="0" smtClean="0"/>
              <a:t>child</a:t>
            </a:r>
            <a:r>
              <a:rPr lang="en-US" altLang="zh-CN" dirty="0" smtClean="0"/>
              <a:t>r</a:t>
            </a:r>
            <a:r>
              <a:rPr lang="en-US" dirty="0" smtClean="0"/>
              <a:t>en</a:t>
            </a:r>
            <a:r>
              <a:rPr lang="en-US" dirty="0"/>
              <a:t>. They are willing to spend money on education and relocate to different cities in the state to help the </a:t>
            </a:r>
            <a:r>
              <a:rPr lang="en-US" dirty="0" smtClean="0"/>
              <a:t>chi</a:t>
            </a:r>
            <a:r>
              <a:rPr lang="en-US" altLang="zh-CN" dirty="0" smtClean="0"/>
              <a:t>l</a:t>
            </a:r>
            <a:r>
              <a:rPr lang="en-US" dirty="0" smtClean="0"/>
              <a:t>d</a:t>
            </a:r>
            <a:r>
              <a:rPr lang="en-US" altLang="zh-CN" dirty="0" smtClean="0"/>
              <a:t>r</a:t>
            </a:r>
            <a:r>
              <a:rPr lang="en-US" dirty="0" smtClean="0"/>
              <a:t>en </a:t>
            </a:r>
            <a:r>
              <a:rPr lang="en-US" dirty="0"/>
              <a:t>have better learning environment. This project aims to identify the districts that have good student performance on the SAT/ACT tests (from Grade 12 students). I will be the one who provides the recommendations to the parents.</a:t>
            </a:r>
          </a:p>
        </p:txBody>
      </p:sp>
    </p:spTree>
    <p:extLst>
      <p:ext uri="{BB962C8B-B14F-4D97-AF65-F5344CB8AC3E}">
        <p14:creationId xmlns:p14="http://schemas.microsoft.com/office/powerpoint/2010/main" val="1732547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Import</a:t>
            </a:r>
            <a:br>
              <a:rPr lang="en-US" b="1" dirty="0"/>
            </a:br>
            <a:endParaRPr lang="en-US" dirty="0"/>
          </a:p>
        </p:txBody>
      </p:sp>
      <p:sp>
        <p:nvSpPr>
          <p:cNvPr id="9" name="TextBox 8"/>
          <p:cNvSpPr txBox="1"/>
          <p:nvPr/>
        </p:nvSpPr>
        <p:spPr>
          <a:xfrm>
            <a:off x="292608" y="1609344"/>
            <a:ext cx="4565904" cy="646331"/>
          </a:xfrm>
          <a:prstGeom prst="rect">
            <a:avLst/>
          </a:prstGeom>
          <a:noFill/>
        </p:spPr>
        <p:txBody>
          <a:bodyPr wrap="square" rtlCol="0">
            <a:spAutoFit/>
          </a:bodyPr>
          <a:lstStyle/>
          <a:p>
            <a:r>
              <a:rPr lang="en-US" dirty="0"/>
              <a:t>act_2019_ca.csv</a:t>
            </a:r>
            <a:r>
              <a:rPr lang="en-US"/>
              <a:t>: </a:t>
            </a:r>
            <a:endParaRPr lang="en-US" smtClean="0"/>
          </a:p>
          <a:p>
            <a:r>
              <a:rPr lang="en-US" dirty="0" smtClean="0"/>
              <a:t>2019 </a:t>
            </a:r>
            <a:r>
              <a:rPr lang="en-US" dirty="0"/>
              <a:t>ACT Scores in California by </a:t>
            </a:r>
            <a:r>
              <a:rPr lang="en-US" dirty="0" smtClean="0"/>
              <a:t>School</a:t>
            </a:r>
            <a:r>
              <a:rPr lang="en-US" dirty="0"/>
              <a:t> </a:t>
            </a:r>
          </a:p>
        </p:txBody>
      </p:sp>
      <p:sp>
        <p:nvSpPr>
          <p:cNvPr id="11" name="TextBox 10"/>
          <p:cNvSpPr txBox="1"/>
          <p:nvPr/>
        </p:nvSpPr>
        <p:spPr>
          <a:xfrm>
            <a:off x="5663184" y="1597152"/>
            <a:ext cx="4273296" cy="646331"/>
          </a:xfrm>
          <a:prstGeom prst="rect">
            <a:avLst/>
          </a:prstGeom>
          <a:noFill/>
        </p:spPr>
        <p:txBody>
          <a:bodyPr wrap="square" rtlCol="0">
            <a:spAutoFit/>
          </a:bodyPr>
          <a:lstStyle/>
          <a:p>
            <a:r>
              <a:rPr lang="en-US" smtClean="0"/>
              <a:t>sat_2019_ca.csv</a:t>
            </a:r>
            <a:r>
              <a:rPr lang="en-US"/>
              <a:t>: </a:t>
            </a:r>
            <a:endParaRPr lang="en-US" smtClean="0"/>
          </a:p>
          <a:p>
            <a:r>
              <a:rPr lang="en-US" dirty="0" smtClean="0"/>
              <a:t>2019 </a:t>
            </a:r>
            <a:r>
              <a:rPr lang="en-US" dirty="0"/>
              <a:t>SAT Scores in California by School </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74" y="2477008"/>
            <a:ext cx="5366494" cy="3387344"/>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1131" y="2424719"/>
            <a:ext cx="6128829" cy="3439633"/>
          </a:xfrm>
          <a:prstGeom prst="rect">
            <a:avLst/>
          </a:prstGeom>
        </p:spPr>
      </p:pic>
    </p:spTree>
    <p:extLst>
      <p:ext uri="{BB962C8B-B14F-4D97-AF65-F5344CB8AC3E}">
        <p14:creationId xmlns:p14="http://schemas.microsoft.com/office/powerpoint/2010/main" val="1197701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smtClean="0"/>
              <a:t>Data</a:t>
            </a:r>
            <a:r>
              <a:rPr lang="zh-CN" altLang="en-US" b="1" dirty="0" smtClean="0"/>
              <a:t> </a:t>
            </a:r>
            <a:r>
              <a:rPr lang="en-US" altLang="zh-CN" b="1" dirty="0" smtClean="0"/>
              <a:t>Analysis</a:t>
            </a:r>
            <a:endParaRPr lang="en-US" b="1" dirty="0"/>
          </a:p>
        </p:txBody>
      </p:sp>
      <p:sp>
        <p:nvSpPr>
          <p:cNvPr id="3" name="Content Placeholder 2"/>
          <p:cNvSpPr>
            <a:spLocks noGrp="1"/>
          </p:cNvSpPr>
          <p:nvPr>
            <p:ph idx="1"/>
          </p:nvPr>
        </p:nvSpPr>
        <p:spPr>
          <a:xfrm>
            <a:off x="677334" y="2160589"/>
            <a:ext cx="4345770" cy="3880773"/>
          </a:xfrm>
        </p:spPr>
        <p:txBody>
          <a:bodyPr/>
          <a:lstStyle/>
          <a:p>
            <a:r>
              <a:rPr lang="en-US" altLang="zh-CN" dirty="0" smtClean="0"/>
              <a:t>ACT:</a:t>
            </a:r>
          </a:p>
          <a:p>
            <a:r>
              <a:rPr lang="en-US" altLang="zh-CN" dirty="0" smtClean="0"/>
              <a:t>Count</a:t>
            </a:r>
            <a:r>
              <a:rPr lang="zh-CN" altLang="en-US" dirty="0" smtClean="0"/>
              <a:t> </a:t>
            </a:r>
            <a:r>
              <a:rPr lang="en-US" altLang="zh-CN" dirty="0" smtClean="0"/>
              <a:t>=</a:t>
            </a:r>
            <a:r>
              <a:rPr lang="zh-CN" altLang="en-US" dirty="0" smtClean="0"/>
              <a:t> </a:t>
            </a:r>
            <a:r>
              <a:rPr lang="en-US" altLang="zh-CN" dirty="0" smtClean="0"/>
              <a:t>1016</a:t>
            </a:r>
          </a:p>
          <a:p>
            <a:r>
              <a:rPr lang="en-US" altLang="zh-CN" dirty="0" smtClean="0"/>
              <a:t>Test</a:t>
            </a:r>
            <a:r>
              <a:rPr lang="zh-CN" altLang="en-US" dirty="0" smtClean="0"/>
              <a:t> </a:t>
            </a:r>
            <a:r>
              <a:rPr lang="en-US" altLang="zh-CN" dirty="0" smtClean="0"/>
              <a:t>takers</a:t>
            </a:r>
            <a:r>
              <a:rPr lang="zh-CN" altLang="en-US" dirty="0" smtClean="0"/>
              <a:t> </a:t>
            </a:r>
            <a:r>
              <a:rPr lang="en-US" altLang="zh-CN" dirty="0" smtClean="0"/>
              <a:t>mean</a:t>
            </a:r>
            <a:r>
              <a:rPr lang="zh-CN" altLang="en-US" dirty="0" smtClean="0"/>
              <a:t> </a:t>
            </a:r>
            <a:r>
              <a:rPr lang="en-US" altLang="zh-CN" dirty="0" smtClean="0"/>
              <a:t>=</a:t>
            </a:r>
            <a:r>
              <a:rPr lang="zh-CN" altLang="en-US" dirty="0" smtClean="0"/>
              <a:t> </a:t>
            </a:r>
            <a:r>
              <a:rPr lang="en-US" altLang="zh-CN" dirty="0" smtClean="0"/>
              <a:t>79</a:t>
            </a:r>
          </a:p>
          <a:p>
            <a:r>
              <a:rPr lang="en-US" altLang="zh-CN" dirty="0" smtClean="0"/>
              <a:t>Percentage</a:t>
            </a:r>
            <a:r>
              <a:rPr lang="zh-CN" altLang="en-US" dirty="0" smtClean="0"/>
              <a:t> </a:t>
            </a:r>
            <a:r>
              <a:rPr lang="en-US" altLang="zh-CN" dirty="0" smtClean="0"/>
              <a:t>of</a:t>
            </a:r>
            <a:r>
              <a:rPr lang="zh-CN" altLang="en-US" dirty="0" smtClean="0"/>
              <a:t> </a:t>
            </a:r>
            <a:r>
              <a:rPr lang="en-US" altLang="zh-CN" dirty="0" smtClean="0"/>
              <a:t>pass</a:t>
            </a:r>
            <a:r>
              <a:rPr lang="zh-CN" altLang="en-US" dirty="0" smtClean="0"/>
              <a:t> </a:t>
            </a:r>
            <a:r>
              <a:rPr lang="en-US" altLang="zh-CN" dirty="0" smtClean="0"/>
              <a:t>mean</a:t>
            </a:r>
            <a:r>
              <a:rPr lang="zh-CN" altLang="en-US" dirty="0" smtClean="0"/>
              <a:t> </a:t>
            </a:r>
            <a:r>
              <a:rPr lang="en-US" altLang="zh-CN" dirty="0" smtClean="0"/>
              <a:t>=</a:t>
            </a:r>
            <a:r>
              <a:rPr lang="zh-CN" altLang="en-US" dirty="0" smtClean="0"/>
              <a:t> </a:t>
            </a:r>
            <a:r>
              <a:rPr lang="en-US" altLang="zh-CN" dirty="0" smtClean="0"/>
              <a:t>51%</a:t>
            </a:r>
          </a:p>
          <a:p>
            <a:endParaRPr lang="en-US" dirty="0" smtClean="0"/>
          </a:p>
          <a:p>
            <a:r>
              <a:rPr lang="en-US" altLang="zh-CN" dirty="0" smtClean="0"/>
              <a:t>SAT:</a:t>
            </a:r>
          </a:p>
          <a:p>
            <a:r>
              <a:rPr lang="en-US" altLang="zh-CN" dirty="0" smtClean="0"/>
              <a:t>Count:</a:t>
            </a:r>
            <a:r>
              <a:rPr lang="zh-CN" altLang="en-US" dirty="0" smtClean="0"/>
              <a:t> </a:t>
            </a:r>
            <a:r>
              <a:rPr lang="en-US" altLang="zh-CN" dirty="0" smtClean="0"/>
              <a:t>1198</a:t>
            </a:r>
          </a:p>
          <a:p>
            <a:r>
              <a:rPr lang="en-US" altLang="zh-CN" dirty="0"/>
              <a:t>Test</a:t>
            </a:r>
            <a:r>
              <a:rPr lang="zh-CN" altLang="en-US" dirty="0"/>
              <a:t> </a:t>
            </a:r>
            <a:r>
              <a:rPr lang="en-US" altLang="zh-CN" dirty="0"/>
              <a:t>takers</a:t>
            </a:r>
            <a:r>
              <a:rPr lang="zh-CN" altLang="en-US" dirty="0"/>
              <a:t> </a:t>
            </a:r>
            <a:r>
              <a:rPr lang="en-US" altLang="zh-CN" dirty="0"/>
              <a:t>mean</a:t>
            </a:r>
            <a:r>
              <a:rPr lang="zh-CN" altLang="en-US" dirty="0"/>
              <a:t> </a:t>
            </a:r>
            <a:r>
              <a:rPr lang="en-US" altLang="zh-CN" dirty="0"/>
              <a:t>=</a:t>
            </a:r>
            <a:r>
              <a:rPr lang="zh-CN" altLang="en-US" dirty="0"/>
              <a:t> </a:t>
            </a:r>
            <a:r>
              <a:rPr lang="en-US" altLang="zh-CN" dirty="0" smtClean="0"/>
              <a:t>139</a:t>
            </a:r>
            <a:endParaRPr lang="en-US" altLang="zh-CN" dirty="0"/>
          </a:p>
          <a:p>
            <a:r>
              <a:rPr lang="en-US" altLang="zh-CN" dirty="0"/>
              <a:t>Percentage</a:t>
            </a:r>
            <a:r>
              <a:rPr lang="zh-CN" altLang="en-US" dirty="0"/>
              <a:t> </a:t>
            </a:r>
            <a:r>
              <a:rPr lang="en-US" altLang="zh-CN" dirty="0"/>
              <a:t>of</a:t>
            </a:r>
            <a:r>
              <a:rPr lang="zh-CN" altLang="en-US" dirty="0"/>
              <a:t> </a:t>
            </a:r>
            <a:r>
              <a:rPr lang="en-US" altLang="zh-CN" dirty="0"/>
              <a:t>pass</a:t>
            </a:r>
            <a:r>
              <a:rPr lang="zh-CN" altLang="en-US" dirty="0"/>
              <a:t> </a:t>
            </a:r>
            <a:r>
              <a:rPr lang="en-US" altLang="zh-CN" dirty="0"/>
              <a:t>mean</a:t>
            </a:r>
            <a:r>
              <a:rPr lang="zh-CN" altLang="en-US" dirty="0"/>
              <a:t> </a:t>
            </a:r>
            <a:r>
              <a:rPr lang="en-US" altLang="zh-CN" dirty="0"/>
              <a:t>=</a:t>
            </a:r>
            <a:r>
              <a:rPr lang="zh-CN" altLang="en-US" dirty="0"/>
              <a:t> </a:t>
            </a:r>
            <a:r>
              <a:rPr lang="en-US" altLang="zh-CN" dirty="0" smtClean="0"/>
              <a:t>43%</a:t>
            </a:r>
            <a:endParaRPr lang="en-US" altLang="zh-CN" dirty="0"/>
          </a:p>
        </p:txBody>
      </p:sp>
      <p:sp>
        <p:nvSpPr>
          <p:cNvPr id="4" name="TextBox 3"/>
          <p:cNvSpPr txBox="1"/>
          <p:nvPr/>
        </p:nvSpPr>
        <p:spPr>
          <a:xfrm>
            <a:off x="4699681" y="4841033"/>
            <a:ext cx="6010656" cy="646331"/>
          </a:xfrm>
          <a:prstGeom prst="rect">
            <a:avLst/>
          </a:prstGeom>
          <a:noFill/>
        </p:spPr>
        <p:txBody>
          <a:bodyPr wrap="square" rtlCol="0">
            <a:spAutoFit/>
          </a:bodyPr>
          <a:lstStyle/>
          <a:p>
            <a:r>
              <a:rPr lang="en-US" dirty="0"/>
              <a:t>The average numbers of students who take ACT and SAT are </a:t>
            </a:r>
            <a:r>
              <a:rPr lang="en-US" altLang="zh-CN" dirty="0" smtClean="0"/>
              <a:t>79</a:t>
            </a:r>
            <a:r>
              <a:rPr lang="zh-CN" altLang="en-US" dirty="0" smtClean="0"/>
              <a:t> </a:t>
            </a:r>
            <a:r>
              <a:rPr lang="en-US" dirty="0" smtClean="0"/>
              <a:t>and </a:t>
            </a:r>
            <a:r>
              <a:rPr lang="en-US" altLang="zh-CN" dirty="0" smtClean="0"/>
              <a:t>139</a:t>
            </a:r>
            <a:r>
              <a:rPr lang="zh-CN" altLang="en-US" dirty="0" smtClean="0"/>
              <a:t> </a:t>
            </a:r>
            <a:r>
              <a:rPr lang="en-US" dirty="0" smtClean="0"/>
              <a:t>in </a:t>
            </a:r>
            <a:r>
              <a:rPr lang="en-US" dirty="0"/>
              <a:t>California </a:t>
            </a:r>
            <a:r>
              <a:rPr lang="en-US" dirty="0" smtClean="0"/>
              <a:t>schools</a:t>
            </a:r>
            <a:r>
              <a:rPr lang="en-US" altLang="zh-CN" dirty="0" smtClean="0"/>
              <a:t>.</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681" y="1719072"/>
            <a:ext cx="7077791" cy="2997773"/>
          </a:xfrm>
          <a:prstGeom prst="rect">
            <a:avLst/>
          </a:prstGeom>
        </p:spPr>
      </p:pic>
    </p:spTree>
    <p:extLst>
      <p:ext uri="{BB962C8B-B14F-4D97-AF65-F5344CB8AC3E}">
        <p14:creationId xmlns:p14="http://schemas.microsoft.com/office/powerpoint/2010/main" val="1405324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Histogram</a:t>
            </a:r>
            <a:r>
              <a:rPr lang="zh-CN" altLang="en-US" dirty="0" smtClean="0"/>
              <a:t> </a:t>
            </a:r>
            <a:r>
              <a:rPr lang="en-US" altLang="zh-CN" dirty="0" smtClean="0"/>
              <a:t>for</a:t>
            </a:r>
            <a:r>
              <a:rPr lang="zh-CN" altLang="en-US" dirty="0" smtClean="0"/>
              <a:t> </a:t>
            </a:r>
            <a:r>
              <a:rPr lang="en-US" altLang="zh-CN" dirty="0" smtClean="0"/>
              <a:t>percent</a:t>
            </a:r>
            <a:r>
              <a:rPr lang="zh-CN" altLang="en-US" dirty="0" smtClean="0"/>
              <a:t> </a:t>
            </a:r>
            <a:r>
              <a:rPr lang="en-US" altLang="zh-CN" dirty="0" smtClean="0"/>
              <a:t>of</a:t>
            </a:r>
            <a:r>
              <a:rPr lang="zh-CN" altLang="en-US" dirty="0" smtClean="0"/>
              <a:t> </a:t>
            </a:r>
            <a:r>
              <a:rPr lang="en-US" altLang="zh-CN" dirty="0" smtClean="0"/>
              <a:t>students</a:t>
            </a:r>
            <a:r>
              <a:rPr lang="zh-CN" altLang="en-US" dirty="0" smtClean="0"/>
              <a:t> </a:t>
            </a:r>
            <a:r>
              <a:rPr lang="en-US" altLang="zh-CN" dirty="0" smtClean="0"/>
              <a:t>who</a:t>
            </a:r>
            <a:r>
              <a:rPr lang="zh-CN" altLang="en-US" dirty="0" smtClean="0"/>
              <a:t> </a:t>
            </a:r>
            <a:r>
              <a:rPr lang="en-US" altLang="zh-CN" dirty="0" smtClean="0"/>
              <a:t>pass</a:t>
            </a:r>
            <a:r>
              <a:rPr lang="zh-CN" altLang="en-US" dirty="0" smtClean="0"/>
              <a:t> </a:t>
            </a:r>
            <a:r>
              <a:rPr lang="en-US" altLang="zh-CN" dirty="0" smtClean="0"/>
              <a:t>the</a:t>
            </a:r>
            <a:r>
              <a:rPr lang="zh-CN" altLang="en-US" dirty="0" smtClean="0"/>
              <a:t> </a:t>
            </a:r>
            <a:r>
              <a:rPr lang="en-US" altLang="zh-CN" dirty="0" smtClean="0"/>
              <a:t>benchmark</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448" y="2099564"/>
            <a:ext cx="4876800" cy="36703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9300" y="2036064"/>
            <a:ext cx="4800600" cy="3733800"/>
          </a:xfrm>
          <a:prstGeom prst="rect">
            <a:avLst/>
          </a:prstGeom>
        </p:spPr>
      </p:pic>
      <p:sp>
        <p:nvSpPr>
          <p:cNvPr id="7" name="TextBox 6"/>
          <p:cNvSpPr txBox="1"/>
          <p:nvPr/>
        </p:nvSpPr>
        <p:spPr>
          <a:xfrm>
            <a:off x="963168" y="5934670"/>
            <a:ext cx="8510016" cy="923330"/>
          </a:xfrm>
          <a:prstGeom prst="rect">
            <a:avLst/>
          </a:prstGeom>
          <a:noFill/>
        </p:spPr>
        <p:txBody>
          <a:bodyPr wrap="square" rtlCol="0">
            <a:spAutoFit/>
          </a:bodyPr>
          <a:lstStyle/>
          <a:p>
            <a:r>
              <a:rPr lang="en-US" altLang="zh-CN" smtClean="0"/>
              <a:t>T</a:t>
            </a:r>
            <a:r>
              <a:rPr lang="en-US" smtClean="0"/>
              <a:t>he </a:t>
            </a:r>
            <a:r>
              <a:rPr lang="en-US"/>
              <a:t>average numbers of percent of test takers whose ACT or SAT score pass the benchmark are 51% and 43%. </a:t>
            </a:r>
          </a:p>
          <a:p>
            <a:endParaRPr lang="en-US" dirty="0"/>
          </a:p>
        </p:txBody>
      </p:sp>
    </p:spTree>
    <p:extLst>
      <p:ext uri="{BB962C8B-B14F-4D97-AF65-F5344CB8AC3E}">
        <p14:creationId xmlns:p14="http://schemas.microsoft.com/office/powerpoint/2010/main" val="440703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Top 10 </a:t>
            </a:r>
            <a:r>
              <a:rPr lang="en-US" altLang="zh-CN" b="1" dirty="0" smtClean="0"/>
              <a:t>districts</a:t>
            </a:r>
            <a:br>
              <a:rPr lang="en-US" altLang="zh-CN" b="1" dirty="0" smtClean="0"/>
            </a:b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44" y="1930400"/>
            <a:ext cx="6007100" cy="3759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0544" y="2082800"/>
            <a:ext cx="5880100" cy="3606800"/>
          </a:xfrm>
          <a:prstGeom prst="rect">
            <a:avLst/>
          </a:prstGeom>
        </p:spPr>
      </p:pic>
      <p:sp>
        <p:nvSpPr>
          <p:cNvPr id="8" name="TextBox 7"/>
          <p:cNvSpPr txBox="1"/>
          <p:nvPr/>
        </p:nvSpPr>
        <p:spPr>
          <a:xfrm>
            <a:off x="865632" y="5842000"/>
            <a:ext cx="7242048" cy="646331"/>
          </a:xfrm>
          <a:prstGeom prst="rect">
            <a:avLst/>
          </a:prstGeom>
          <a:noFill/>
        </p:spPr>
        <p:txBody>
          <a:bodyPr wrap="square" rtlCol="0">
            <a:spAutoFit/>
          </a:bodyPr>
          <a:lstStyle/>
          <a:p>
            <a:r>
              <a:rPr lang="en-US" dirty="0"/>
              <a:t>Los </a:t>
            </a:r>
            <a:r>
              <a:rPr lang="en-US" dirty="0" smtClean="0"/>
              <a:t>Angel</a:t>
            </a:r>
            <a:r>
              <a:rPr lang="en-US" altLang="zh-CN" dirty="0" smtClean="0"/>
              <a:t>e</a:t>
            </a:r>
            <a:r>
              <a:rPr lang="en-US" dirty="0" smtClean="0"/>
              <a:t>s </a:t>
            </a:r>
            <a:r>
              <a:rPr lang="en-US" dirty="0"/>
              <a:t>is </a:t>
            </a:r>
            <a:r>
              <a:rPr lang="en-US" altLang="zh-CN" dirty="0" smtClean="0"/>
              <a:t>top</a:t>
            </a:r>
            <a:r>
              <a:rPr lang="zh-CN" altLang="en-US" dirty="0" smtClean="0"/>
              <a:t> </a:t>
            </a:r>
            <a:r>
              <a:rPr lang="en-US" altLang="zh-CN" dirty="0" smtClean="0"/>
              <a:t>one</a:t>
            </a:r>
            <a:r>
              <a:rPr lang="zh-CN" altLang="en-US" dirty="0" smtClean="0"/>
              <a:t> </a:t>
            </a:r>
            <a:r>
              <a:rPr lang="en-US" dirty="0" smtClean="0"/>
              <a:t>district </a:t>
            </a:r>
            <a:r>
              <a:rPr lang="en-US" dirty="0"/>
              <a:t>whose </a:t>
            </a:r>
            <a:r>
              <a:rPr lang="en-US" dirty="0" smtClean="0"/>
              <a:t>students</a:t>
            </a:r>
            <a:r>
              <a:rPr lang="zh-CN" altLang="en-US" dirty="0" smtClean="0"/>
              <a:t> </a:t>
            </a:r>
            <a:r>
              <a:rPr lang="en-US" altLang="zh-CN" dirty="0" smtClean="0"/>
              <a:t>would</a:t>
            </a:r>
            <a:r>
              <a:rPr lang="zh-CN" altLang="en-US" dirty="0" smtClean="0"/>
              <a:t> </a:t>
            </a:r>
            <a:r>
              <a:rPr lang="en-US" altLang="zh-CN" dirty="0" smtClean="0"/>
              <a:t>like</a:t>
            </a:r>
            <a:r>
              <a:rPr lang="zh-CN" altLang="en-US" dirty="0" smtClean="0"/>
              <a:t> </a:t>
            </a:r>
            <a:r>
              <a:rPr lang="en-US" altLang="zh-CN" dirty="0" smtClean="0"/>
              <a:t>to</a:t>
            </a:r>
            <a:r>
              <a:rPr lang="zh-CN" altLang="en-US" dirty="0" smtClean="0"/>
              <a:t> </a:t>
            </a:r>
            <a:r>
              <a:rPr lang="en-US" altLang="zh-CN" dirty="0" smtClean="0"/>
              <a:t>enroll</a:t>
            </a:r>
            <a:r>
              <a:rPr lang="zh-CN" altLang="en-US" dirty="0"/>
              <a:t> </a:t>
            </a:r>
            <a:r>
              <a:rPr lang="en-US" dirty="0" smtClean="0"/>
              <a:t>SAT/ACT </a:t>
            </a:r>
            <a:r>
              <a:rPr lang="en-US" dirty="0"/>
              <a:t>tests.</a:t>
            </a:r>
          </a:p>
        </p:txBody>
      </p:sp>
    </p:spTree>
    <p:extLst>
      <p:ext uri="{BB962C8B-B14F-4D97-AF65-F5344CB8AC3E}">
        <p14:creationId xmlns:p14="http://schemas.microsoft.com/office/powerpoint/2010/main" val="1257856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5686" y="243840"/>
            <a:ext cx="8596668" cy="1320800"/>
          </a:xfrm>
        </p:spPr>
        <p:txBody>
          <a:bodyPr/>
          <a:lstStyle/>
          <a:p>
            <a:r>
              <a:rPr lang="en-US" altLang="zh-CN" dirty="0" smtClean="0"/>
              <a:t>Top</a:t>
            </a:r>
            <a:r>
              <a:rPr lang="zh-CN" altLang="en-US" dirty="0" smtClean="0"/>
              <a:t> </a:t>
            </a:r>
            <a:r>
              <a:rPr lang="en-US" altLang="zh-CN" dirty="0" smtClean="0"/>
              <a:t>10</a:t>
            </a:r>
            <a:r>
              <a:rPr lang="zh-CN" altLang="en-US" dirty="0" smtClean="0"/>
              <a:t> </a:t>
            </a:r>
            <a:r>
              <a:rPr lang="en-US" altLang="zh-CN" dirty="0" smtClean="0"/>
              <a:t>schools</a:t>
            </a:r>
            <a:r>
              <a:rPr lang="zh-CN" altLang="en-US" dirty="0" smtClean="0"/>
              <a:t> </a:t>
            </a:r>
            <a:r>
              <a:rPr lang="en-US" altLang="zh-CN" dirty="0" smtClean="0"/>
              <a:t>-</a:t>
            </a:r>
            <a:r>
              <a:rPr lang="zh-CN" altLang="en-US" dirty="0" smtClean="0"/>
              <a:t> </a:t>
            </a:r>
            <a:r>
              <a:rPr lang="en-US" altLang="zh-CN" dirty="0" smtClean="0"/>
              <a:t>SAT</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342" y="904240"/>
            <a:ext cx="8351012" cy="5435600"/>
          </a:xfrm>
          <a:prstGeom prst="rect">
            <a:avLst/>
          </a:prstGeom>
        </p:spPr>
      </p:pic>
    </p:spTree>
    <p:extLst>
      <p:ext uri="{BB962C8B-B14F-4D97-AF65-F5344CB8AC3E}">
        <p14:creationId xmlns:p14="http://schemas.microsoft.com/office/powerpoint/2010/main" val="959308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270" y="573024"/>
            <a:ext cx="9844362" cy="1320800"/>
          </a:xfrm>
        </p:spPr>
        <p:txBody>
          <a:bodyPr/>
          <a:lstStyle/>
          <a:p>
            <a:r>
              <a:rPr lang="en-US" altLang="zh-CN" b="1" dirty="0" smtClean="0"/>
              <a:t>Covariance</a:t>
            </a:r>
            <a:r>
              <a:rPr lang="zh-CN" altLang="en-US" b="1" dirty="0" smtClean="0"/>
              <a:t> </a:t>
            </a:r>
            <a:r>
              <a:rPr lang="en-US" altLang="zh-CN" b="1" dirty="0" smtClean="0"/>
              <a:t>and</a:t>
            </a:r>
            <a:r>
              <a:rPr lang="zh-CN" altLang="en-US" b="1" dirty="0" smtClean="0"/>
              <a:t> </a:t>
            </a:r>
            <a:r>
              <a:rPr lang="en-US" altLang="zh-CN" b="1" dirty="0" smtClean="0"/>
              <a:t>correlation</a:t>
            </a:r>
            <a:r>
              <a:rPr lang="zh-CN" altLang="en-US" b="1" dirty="0" smtClean="0"/>
              <a:t> </a:t>
            </a:r>
            <a:r>
              <a:rPr lang="en-US" altLang="zh-CN" b="1" dirty="0" smtClean="0"/>
              <a:t>——</a:t>
            </a:r>
            <a:r>
              <a:rPr lang="zh-CN" altLang="en-US" b="1" dirty="0" smtClean="0"/>
              <a:t> </a:t>
            </a:r>
            <a:r>
              <a:rPr lang="en-US" altLang="zh-CN" b="1" dirty="0" smtClean="0"/>
              <a:t>ERW</a:t>
            </a:r>
            <a:r>
              <a:rPr lang="zh-CN" altLang="en-US" b="1" dirty="0" smtClean="0"/>
              <a:t> </a:t>
            </a:r>
            <a:r>
              <a:rPr lang="en-US" altLang="zh-CN" b="1" dirty="0" smtClean="0"/>
              <a:t>&amp;</a:t>
            </a:r>
            <a:r>
              <a:rPr lang="zh-CN" altLang="en-US" b="1" dirty="0" smtClean="0"/>
              <a:t> </a:t>
            </a:r>
            <a:r>
              <a:rPr lang="en-US" altLang="zh-CN" b="1" dirty="0" smtClean="0"/>
              <a:t>Math</a:t>
            </a: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 y="1767840"/>
            <a:ext cx="5456306" cy="3854704"/>
          </a:xfrm>
          <a:prstGeom prst="rect">
            <a:avLst/>
          </a:prstGeom>
        </p:spPr>
      </p:pic>
      <p:sp>
        <p:nvSpPr>
          <p:cNvPr id="5" name="TextBox 4"/>
          <p:cNvSpPr txBox="1"/>
          <p:nvPr/>
        </p:nvSpPr>
        <p:spPr>
          <a:xfrm>
            <a:off x="6281636" y="1987296"/>
            <a:ext cx="3657600" cy="3139321"/>
          </a:xfrm>
          <a:prstGeom prst="rect">
            <a:avLst/>
          </a:prstGeom>
          <a:noFill/>
        </p:spPr>
        <p:txBody>
          <a:bodyPr wrap="square" rtlCol="0">
            <a:spAutoFit/>
          </a:bodyPr>
          <a:lstStyle/>
          <a:p>
            <a:r>
              <a:rPr lang="en-US" dirty="0"/>
              <a:t>We also notice that the </a:t>
            </a:r>
            <a:r>
              <a:rPr lang="en-US" dirty="0" smtClean="0"/>
              <a:t>performa</a:t>
            </a:r>
            <a:r>
              <a:rPr lang="en-US" altLang="zh-CN" dirty="0" smtClean="0"/>
              <a:t>n</a:t>
            </a:r>
            <a:r>
              <a:rPr lang="en-US" dirty="0" smtClean="0"/>
              <a:t>ce </a:t>
            </a:r>
            <a:r>
              <a:rPr lang="en-US" dirty="0"/>
              <a:t>of SAT ERW test </a:t>
            </a:r>
            <a:r>
              <a:rPr lang="en-US" dirty="0" smtClean="0"/>
              <a:t>a</a:t>
            </a:r>
            <a:r>
              <a:rPr lang="en-US" altLang="zh-CN" dirty="0" smtClean="0"/>
              <a:t>n</a:t>
            </a:r>
            <a:r>
              <a:rPr lang="en-US" dirty="0" smtClean="0"/>
              <a:t>d </a:t>
            </a:r>
            <a:r>
              <a:rPr lang="en-US" dirty="0"/>
              <a:t>SAT Math test are highly related. The schools who have high percent of students who meet or exceed the benchmark for ERW are likely to have </a:t>
            </a:r>
            <a:r>
              <a:rPr lang="en-US" dirty="0" smtClean="0"/>
              <a:t>high </a:t>
            </a:r>
            <a:r>
              <a:rPr lang="en-US" dirty="0"/>
              <a:t>percent of students to meet or exceed the benchmark for math</a:t>
            </a:r>
            <a:r>
              <a:rPr lang="en-US" dirty="0" smtClean="0"/>
              <a:t>.</a:t>
            </a:r>
          </a:p>
          <a:p>
            <a:endParaRPr lang="en-US" dirty="0"/>
          </a:p>
          <a:p>
            <a:r>
              <a:rPr lang="en-US" altLang="zh-CN" dirty="0" smtClean="0"/>
              <a:t>correlation</a:t>
            </a:r>
            <a:r>
              <a:rPr lang="zh-CN" altLang="en-US" dirty="0" smtClean="0"/>
              <a:t> </a:t>
            </a:r>
            <a:r>
              <a:rPr lang="en-US" altLang="zh-CN" dirty="0" smtClean="0"/>
              <a:t>=</a:t>
            </a:r>
            <a:r>
              <a:rPr lang="zh-CN" altLang="en-US" dirty="0" smtClean="0"/>
              <a:t> </a:t>
            </a:r>
            <a:r>
              <a:rPr lang="hr-HR" dirty="0"/>
              <a:t>0.914</a:t>
            </a:r>
            <a:endParaRPr lang="en-US" dirty="0"/>
          </a:p>
        </p:txBody>
      </p:sp>
    </p:spTree>
    <p:extLst>
      <p:ext uri="{BB962C8B-B14F-4D97-AF65-F5344CB8AC3E}">
        <p14:creationId xmlns:p14="http://schemas.microsoft.com/office/powerpoint/2010/main" val="140582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 and Recommendations</a:t>
            </a:r>
          </a:p>
        </p:txBody>
      </p:sp>
      <p:sp>
        <p:nvSpPr>
          <p:cNvPr id="3" name="Content Placeholder 2"/>
          <p:cNvSpPr>
            <a:spLocks noGrp="1"/>
          </p:cNvSpPr>
          <p:nvPr>
            <p:ph idx="1"/>
          </p:nvPr>
        </p:nvSpPr>
        <p:spPr>
          <a:xfrm>
            <a:off x="555414" y="1807021"/>
            <a:ext cx="8596668" cy="3880773"/>
          </a:xfrm>
        </p:spPr>
        <p:txBody>
          <a:bodyPr/>
          <a:lstStyle/>
          <a:p>
            <a:r>
              <a:rPr lang="en-US" dirty="0"/>
              <a:t>From the data and analysis we provided above, we can see that </a:t>
            </a:r>
            <a:r>
              <a:rPr lang="en-US" b="1" dirty="0"/>
              <a:t>Los Angeles </a:t>
            </a:r>
            <a:r>
              <a:rPr lang="en-US" dirty="0"/>
              <a:t>is the best county for students to choose if they would like to get higher SAT/ACT scores. Los </a:t>
            </a:r>
            <a:r>
              <a:rPr lang="en-US" dirty="0" smtClean="0"/>
              <a:t>Angel</a:t>
            </a:r>
            <a:r>
              <a:rPr lang="en-US" altLang="zh-CN" dirty="0" smtClean="0"/>
              <a:t>e</a:t>
            </a:r>
            <a:r>
              <a:rPr lang="en-US" dirty="0" smtClean="0"/>
              <a:t>s </a:t>
            </a:r>
            <a:r>
              <a:rPr lang="en-US" dirty="0"/>
              <a:t>not only has the most schools, but also has high percentage of students who met the benchmark of SAT/ACT tests. </a:t>
            </a:r>
            <a:endParaRPr lang="en-US" dirty="0" smtClean="0"/>
          </a:p>
          <a:p>
            <a:endParaRPr lang="en-US" dirty="0" smtClean="0"/>
          </a:p>
          <a:p>
            <a:r>
              <a:rPr lang="en-US" dirty="0" smtClean="0"/>
              <a:t>In </a:t>
            </a:r>
            <a:r>
              <a:rPr lang="en-US" dirty="0"/>
              <a:t>Los Angeles, here are top 5 </a:t>
            </a:r>
            <a:r>
              <a:rPr lang="en-US" dirty="0" smtClean="0"/>
              <a:t>schools</a:t>
            </a:r>
            <a:r>
              <a:rPr lang="zh-CN" altLang="en-US" dirty="0" smtClean="0"/>
              <a:t> </a:t>
            </a:r>
            <a:r>
              <a:rPr lang="en-US" altLang="zh-CN" dirty="0" smtClean="0"/>
              <a:t>(ACT):</a:t>
            </a:r>
            <a:r>
              <a:rPr lang="zh-CN" altLang="en-US" dirty="0" smtClean="0"/>
              <a:t> </a:t>
            </a:r>
            <a:r>
              <a:rPr lang="en-US" dirty="0" smtClean="0"/>
              <a:t>Whitney </a:t>
            </a:r>
            <a:r>
              <a:rPr lang="en-US" dirty="0"/>
              <a:t>High, Academy of the Canyons, La Canada High, Los Angeles Center for Enriched Studies, Arcadia </a:t>
            </a:r>
            <a:r>
              <a:rPr lang="en-US" dirty="0" smtClean="0"/>
              <a:t>High</a:t>
            </a:r>
            <a:r>
              <a:rPr lang="en-US" altLang="zh-CN" dirty="0" smtClean="0"/>
              <a:t>.</a:t>
            </a:r>
            <a:endParaRPr lang="en-US" dirty="0" smtClean="0"/>
          </a:p>
          <a:p>
            <a:r>
              <a:rPr lang="en-US" dirty="0" smtClean="0"/>
              <a:t>Here </a:t>
            </a:r>
            <a:r>
              <a:rPr lang="en-US" dirty="0"/>
              <a:t>are top 5 schools </a:t>
            </a:r>
            <a:r>
              <a:rPr lang="en-US" altLang="zh-CN" dirty="0" smtClean="0"/>
              <a:t>(SAT)</a:t>
            </a:r>
            <a:r>
              <a:rPr lang="en-US" dirty="0" smtClean="0"/>
              <a:t>: </a:t>
            </a:r>
            <a:r>
              <a:rPr lang="en-US" dirty="0"/>
              <a:t>Whitney High, California Academy of Mathematics and Science, La Canada High, San Marino High, South Pasadena Senior High.</a:t>
            </a:r>
          </a:p>
        </p:txBody>
      </p:sp>
    </p:spTree>
    <p:extLst>
      <p:ext uri="{BB962C8B-B14F-4D97-AF65-F5344CB8AC3E}">
        <p14:creationId xmlns:p14="http://schemas.microsoft.com/office/powerpoint/2010/main" val="112656533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122</TotalTime>
  <Words>473</Words>
  <Application>Microsoft Macintosh PowerPoint</Application>
  <PresentationFormat>Widescreen</PresentationFormat>
  <Paragraphs>36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Trebuchet MS</vt:lpstr>
      <vt:lpstr>Wingdings 3</vt:lpstr>
      <vt:lpstr>华文新魏</vt:lpstr>
      <vt:lpstr>方正姚体</vt:lpstr>
      <vt:lpstr>Arial</vt:lpstr>
      <vt:lpstr>Facet</vt:lpstr>
      <vt:lpstr>Project 1: Standardized Test Analysis </vt:lpstr>
      <vt:lpstr>Problem Statement</vt:lpstr>
      <vt:lpstr>Data Import </vt:lpstr>
      <vt:lpstr>Data Analysis</vt:lpstr>
      <vt:lpstr>Histogram for percent of students who pass the benchmark</vt:lpstr>
      <vt:lpstr>Top 10 districts </vt:lpstr>
      <vt:lpstr>Top 10 schools - SAT</vt:lpstr>
      <vt:lpstr>Covariance and correlation —— ERW &amp; Math</vt:lpstr>
      <vt:lpstr>Conclusions and Recommendations</vt:lpstr>
    </vt:vector>
  </TitlesOfParts>
  <Company/>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1: Standardized Test Analysis </dc:title>
  <dc:creator>Microsoft Office User</dc:creator>
  <cp:lastModifiedBy>Microsoft Office User</cp:lastModifiedBy>
  <cp:revision>14</cp:revision>
  <dcterms:created xsi:type="dcterms:W3CDTF">2021-10-22T12:32:39Z</dcterms:created>
  <dcterms:modified xsi:type="dcterms:W3CDTF">2021-10-22T14:35:36Z</dcterms:modified>
</cp:coreProperties>
</file>